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3" r:id="rId14"/>
    <p:sldId id="267" r:id="rId15"/>
    <p:sldId id="275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6" autoAdjust="0"/>
    <p:restoredTop sz="94660"/>
  </p:normalViewPr>
  <p:slideViewPr>
    <p:cSldViewPr snapToGrid="0">
      <p:cViewPr>
        <p:scale>
          <a:sx n="94" d="100"/>
          <a:sy n="94" d="100"/>
        </p:scale>
        <p:origin x="1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E489-ED0F-C00C-7D2D-9ADD72CBE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D8BC3-1332-D7E3-7006-9BBCEF5AF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93676-523E-57B1-81A3-4554D1F6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E970E-4582-3B4F-2631-0D86250D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57A75-A8CE-3730-D1FE-49034F67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0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1111-1EEA-31C0-FB75-00B94D9BA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6CAD9-36F6-BEDE-1C7E-8ACD6F21A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B35B5-A575-3798-10D3-77D3EAA0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E81C-C08A-B92A-3EAA-1CE1C621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5FDC1-F758-0E6A-394F-975FB41BE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9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6A6C-56A6-BED3-6B30-A97F6A09E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3AEA4-07AB-E7E0-FED4-EB4C9166C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E2258-6CCF-E079-1A07-E359770BA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7E1E0-420A-E7AF-FB1E-224BACD2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4C3F8-02CB-A1AA-21E1-F8A619E3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9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469F-B2D9-10A2-0421-E5BD85D8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CB75E-67B5-0412-3E18-06AFDD344C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E4A53-C575-9BEC-B827-C507050A0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65C34-D9CE-D1A7-DCE1-E9C3E9B0C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57C53-56B0-49D8-CA3E-71926AED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BE861-3618-8568-B3BE-2DF82607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11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2D6CD-4F52-5AF9-C666-202203439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A43C0-5888-4E9E-8F04-FFC73523C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3FBA3-4B3B-606C-CD13-46A090384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950DBA-1136-800F-6568-D545D8487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A560F-1CF6-7285-7F3F-659DF4EB9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06D3E9-C39D-ED50-2C93-5175F538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C46EA9-C064-F1A9-D85B-E5A29E6C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3B74AC-066E-509B-3D5E-2B4002ED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45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89DE-510E-2D1D-A6EB-FFA91BA9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D3BA3E-0BAF-D205-95DB-770CA249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3166D-1D83-E633-C919-DC6BED54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6EA2D-F155-EACC-40D3-D904FFEC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05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D8190-B095-5C1D-26E4-72C9AC57D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63E39-06D3-3F17-C31E-35B40E4D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49B65-F3A0-A708-B05C-131D2E91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16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CB92-25BB-A2ED-2C19-6E8D55513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78EF6-1664-41F8-CBF6-6602CB95F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28523-6717-E52D-6E05-261C309C7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D6C9D-1E96-1720-5284-CABAA3E61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5AA5F-8C42-C6AB-9A83-AB9DCAF3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AA15D-D7A8-5F99-BB68-DA4EFE9E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6BD8-C0FC-9CA0-4162-46B8E547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6EFB0-EE9F-923D-263D-2C73757CD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A9892-A0D6-0D71-8D95-F17AE871E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9F953-A570-0AE0-E401-F333A27B0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3AB31-A88C-67BA-2F67-DBC18C88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AB411-0D95-0C0F-9439-23A5CE88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2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EBCD-4804-365C-87A7-F39AA858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E9E67-3788-D011-3042-C9B80967D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56A39-4819-C879-39FB-38FF4BA3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FCD0F-A0C7-8814-13D5-682D4338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6905B-2F63-FE52-51C5-B4289F2D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7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208BF5-A1E7-FB53-1078-37722B256D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40B7F-C912-7F51-6D02-C1AFF5B84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941F6-261F-D3F6-DB8D-237185C7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69F63-28DD-2E6D-AEA9-A13530BC6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72E49-252A-D10C-2554-6FC09137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5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CF06E-781E-DDB3-A1FB-3116761A9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C5C30-E7F2-5143-8E92-267C10FCA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61A09-5210-0563-F412-B4BB47116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EFD79-5C4F-480A-B43C-B0401F5AB8E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0CD38-74E0-AA19-D403-6F46B0538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19DA4-9A26-210F-F6AA-7995E42BB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49958-C321-4725-86A3-3E43EA8C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0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A1F6-BD92-80C1-4C70-6409AC9464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Salinity: Relationship and Effect on Dissolved Oxygen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63FA8-D99A-6706-1BFD-D235F87386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the relationship?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Analytics Life 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Subset of </a:t>
            </a:r>
            <a:r>
              <a:rPr lang="en-US" dirty="0" err="1"/>
              <a:t>CalCOFI</a:t>
            </a:r>
            <a:r>
              <a:rPr lang="en-US" dirty="0"/>
              <a:t> dataset</a:t>
            </a:r>
          </a:p>
        </p:txBody>
      </p:sp>
    </p:spTree>
    <p:extLst>
      <p:ext uri="{BB962C8B-B14F-4D97-AF65-F5344CB8AC3E}">
        <p14:creationId xmlns:p14="http://schemas.microsoft.com/office/powerpoint/2010/main" val="3914744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BDC2-E38C-D67C-FFCA-A7C37AA61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 chose this topic?: The 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4EC21-0F0E-B616-27F5-80321CD85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Oxygen in ocean water is essential for marine life</a:t>
            </a:r>
          </a:p>
          <a:p>
            <a:endParaRPr lang="en-US" dirty="0"/>
          </a:p>
          <a:p>
            <a:r>
              <a:rPr lang="en-US" dirty="0"/>
              <a:t>Oxygen distribution In ocean water is affected by the amount of salinity in the water</a:t>
            </a:r>
          </a:p>
          <a:p>
            <a:endParaRPr lang="en-US" dirty="0"/>
          </a:p>
          <a:p>
            <a:r>
              <a:rPr lang="en-US" dirty="0"/>
              <a:t>Various organisms that breath underwater depend on sufficient amounts of dissolved oxygen to survive</a:t>
            </a:r>
          </a:p>
          <a:p>
            <a:endParaRPr lang="en-US" dirty="0"/>
          </a:p>
          <a:p>
            <a:r>
              <a:rPr lang="en-US" dirty="0"/>
              <a:t>Low oxygen can lead to stress among various species, migration, or even death and possible extinction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04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EBBD5-33D2-8CC6-4B14-1CA4A5905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9FB80-0984-69F1-CBF5-96163159D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effect does salinity have on the level of dissolved oxygen along the California coast?</a:t>
            </a:r>
          </a:p>
          <a:p>
            <a:endParaRPr lang="en-US" dirty="0"/>
          </a:p>
          <a:p>
            <a:r>
              <a:rPr lang="en-US" dirty="0"/>
              <a:t>Increasing?, decreasing?</a:t>
            </a:r>
          </a:p>
          <a:p>
            <a:endParaRPr lang="en-US" dirty="0"/>
          </a:p>
          <a:p>
            <a:r>
              <a:rPr lang="en-US" dirty="0"/>
              <a:t>Can we see a clear trend?</a:t>
            </a:r>
          </a:p>
        </p:txBody>
      </p:sp>
    </p:spTree>
    <p:extLst>
      <p:ext uri="{BB962C8B-B14F-4D97-AF65-F5344CB8AC3E}">
        <p14:creationId xmlns:p14="http://schemas.microsoft.com/office/powerpoint/2010/main" val="2386903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B0F89-71D0-C472-3ED3-538AF70C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information: Why salinity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11934-4B75-F534-700C-49776AD37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Salinity: Measure of the amount of dissolved salt there is in seawater</a:t>
            </a:r>
          </a:p>
          <a:p>
            <a:r>
              <a:rPr lang="en-US" dirty="0"/>
              <a:t>Can be affected by evaporation and precipitation, water masses mixing, temperature and density gradients</a:t>
            </a:r>
          </a:p>
          <a:p>
            <a:r>
              <a:rPr lang="en-US" dirty="0"/>
              <a:t>Salinity controls seawater density which drives global thermohaline circulation (ocean conveyor belt) which regulates the Earth’s climate</a:t>
            </a:r>
          </a:p>
          <a:p>
            <a:r>
              <a:rPr lang="en-US" dirty="0"/>
              <a:t>Affects circulation based on how water sinks, rises, and moves horizontally</a:t>
            </a:r>
          </a:p>
          <a:p>
            <a:r>
              <a:rPr lang="en-US" dirty="0"/>
              <a:t>Salinity helps marine animals to regulate their internal water balance</a:t>
            </a:r>
          </a:p>
          <a:p>
            <a:r>
              <a:rPr lang="en-US" dirty="0"/>
              <a:t>Changes in salinity can cause things like migration, stress, or even death among various marine animals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48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4933-E95B-358E-258D-12EEF665B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Salinity and water density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5F002-CAC3-8176-4B6E-B58062A74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Ocean water gets saltier toward the bottom and is fresher closer to the surface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Layers of salt created at deeper levels do not mix as well</a:t>
            </a:r>
          </a:p>
          <a:p>
            <a:r>
              <a:rPr lang="en-US" dirty="0"/>
              <a:t>Less mixing of salt at deeper levels means more oxygen gets used up by organisms living at the deeper levels who use up lots of oxygen</a:t>
            </a:r>
          </a:p>
          <a:p>
            <a:r>
              <a:rPr lang="en-US" dirty="0"/>
              <a:t>This causes oxygen levels to become drastically reduced over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74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7EFE-DD5C-271A-BF6B-B09DAB335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used the data analytics life cycle…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5F2CC8-60F5-1462-0F0F-CA4DBE78C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2141537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81068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E6F7-3103-F4AD-5340-1588566C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Analytics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3488D-3BB9-8DC6-787D-37CD7DE27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Discovery phase – defined the problem</a:t>
            </a:r>
          </a:p>
          <a:p>
            <a:r>
              <a:rPr lang="en-US" dirty="0"/>
              <a:t>Prepare phase – collected and organized the data</a:t>
            </a:r>
          </a:p>
          <a:p>
            <a:r>
              <a:rPr lang="en-US" dirty="0"/>
              <a:t>Model – I built a multi-linear regression</a:t>
            </a:r>
          </a:p>
          <a:p>
            <a:r>
              <a:rPr lang="en-US" dirty="0"/>
              <a:t>Analyze – I used visualizations to help with my evaluation</a:t>
            </a:r>
          </a:p>
          <a:p>
            <a:r>
              <a:rPr lang="en-US" dirty="0"/>
              <a:t>Interpret – Understanding what the data means</a:t>
            </a:r>
          </a:p>
          <a:p>
            <a:r>
              <a:rPr lang="en-US" dirty="0"/>
              <a:t>Communicate – Report my findings</a:t>
            </a:r>
          </a:p>
        </p:txBody>
      </p:sp>
    </p:spTree>
    <p:extLst>
      <p:ext uri="{BB962C8B-B14F-4D97-AF65-F5344CB8AC3E}">
        <p14:creationId xmlns:p14="http://schemas.microsoft.com/office/powerpoint/2010/main" val="866955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D6AB-E648-7AD9-9C67-34357C55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Discovery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82BB3-A1EB-4306-3C38-64801B924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Chose a question that was meaningful and could be measured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Ran a correlation matrix in pandas to compare variable relationships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 picked salinity and oxygen because they were relevant scientifically and could be clearly measured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Looked at relationship the two have on marine life along California coast</a:t>
            </a:r>
          </a:p>
        </p:txBody>
      </p:sp>
    </p:spTree>
    <p:extLst>
      <p:ext uri="{BB962C8B-B14F-4D97-AF65-F5344CB8AC3E}">
        <p14:creationId xmlns:p14="http://schemas.microsoft.com/office/powerpoint/2010/main" val="3350578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6681-4060-F2CE-1BED-3DB4A404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Preparation: Collected and organized the data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3E7D9-9460-DC87-622E-AC55DB336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Loaded the sub data set into pandas and read the csv file</a:t>
            </a:r>
          </a:p>
          <a:p>
            <a:r>
              <a:rPr lang="en-US" dirty="0"/>
              <a:t>After describing the csv file I found null values </a:t>
            </a:r>
          </a:p>
          <a:p>
            <a:r>
              <a:rPr lang="en-US" dirty="0"/>
              <a:t>1000 entries were available in the subset</a:t>
            </a:r>
          </a:p>
          <a:p>
            <a:pPr lvl="1"/>
            <a:r>
              <a:rPr lang="en-US" dirty="0"/>
              <a:t>799 non-null for O2ml_L</a:t>
            </a:r>
          </a:p>
          <a:p>
            <a:pPr lvl="1"/>
            <a:r>
              <a:rPr lang="en-US" dirty="0"/>
              <a:t>942 non-null for Salinity 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Cleaned data by creating a new data frame</a:t>
            </a:r>
          </a:p>
          <a:p>
            <a:pPr marL="457200" lvl="1" indent="0">
              <a:buNone/>
            </a:pPr>
            <a:r>
              <a:rPr lang="en-US" dirty="0"/>
              <a:t>    named filled_null_values</a:t>
            </a:r>
          </a:p>
          <a:p>
            <a:pPr lvl="1"/>
            <a:r>
              <a:rPr lang="en-US" dirty="0"/>
              <a:t>Ensured types for modeling were numeric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7A496E-F659-1614-D63D-536E14999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725" y="3061107"/>
            <a:ext cx="5000786" cy="363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54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761F-B802-E1C5-2B7E-69C4DB07A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EE743-E231-79C0-7D74-3772CB232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chose to build a linear regression model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 built a multi-linear regression model using all the variables in the subset: Depth, </a:t>
            </a:r>
            <a:r>
              <a:rPr lang="en-US" dirty="0" err="1"/>
              <a:t>T_degC</a:t>
            </a:r>
            <a:r>
              <a:rPr lang="en-US" dirty="0"/>
              <a:t>, Salinity, O2ml_L, </a:t>
            </a:r>
            <a:r>
              <a:rPr lang="en-US" dirty="0" err="1"/>
              <a:t>Stheta</a:t>
            </a:r>
            <a:r>
              <a:rPr lang="en-US" dirty="0"/>
              <a:t>, Unnamed: 0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 used the model to predict the amount of dissolved oxygen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Prepared predictions  for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40942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A09D-45EE-020F-950E-B42BA859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EA75C-9842-A6A0-8BC3-FA8CD795D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plotted </a:t>
            </a:r>
            <a:r>
              <a:rPr lang="en-US" dirty="0" err="1"/>
              <a:t>Salnty</a:t>
            </a:r>
            <a:r>
              <a:rPr lang="en-US" dirty="0"/>
              <a:t> against O2ml_L on the graph</a:t>
            </a:r>
          </a:p>
          <a:p>
            <a:r>
              <a:rPr lang="en-US" dirty="0" err="1"/>
              <a:t>Salnty</a:t>
            </a:r>
            <a:r>
              <a:rPr lang="en-US" dirty="0"/>
              <a:t> (x): independent variable</a:t>
            </a:r>
          </a:p>
          <a:p>
            <a:r>
              <a:rPr lang="en-US" dirty="0"/>
              <a:t>O2ml_L (y): dependent variable</a:t>
            </a:r>
          </a:p>
          <a:p>
            <a:r>
              <a:rPr lang="en-US" dirty="0"/>
              <a:t>The points on the scatterplot revealed a downward trend</a:t>
            </a:r>
          </a:p>
          <a:p>
            <a:r>
              <a:rPr lang="en-US" dirty="0"/>
              <a:t>Scatterplot provided visual confirmation of the negative trend</a:t>
            </a:r>
          </a:p>
        </p:txBody>
      </p:sp>
    </p:spTree>
    <p:extLst>
      <p:ext uri="{BB962C8B-B14F-4D97-AF65-F5344CB8AC3E}">
        <p14:creationId xmlns:p14="http://schemas.microsoft.com/office/powerpoint/2010/main" val="3206242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AD802-4F7E-0957-067E-37B1CF54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FB1093-DDAE-1BA7-8514-2C4E86C90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347" y="1741394"/>
            <a:ext cx="6225987" cy="5062817"/>
          </a:xfrm>
        </p:spPr>
      </p:pic>
    </p:spTree>
    <p:extLst>
      <p:ext uri="{BB962C8B-B14F-4D97-AF65-F5344CB8AC3E}">
        <p14:creationId xmlns:p14="http://schemas.microsoft.com/office/powerpoint/2010/main" val="3231020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6A0B7-9BEE-2EA3-AE08-80F88D5A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23DF8E-436B-E8D2-4E68-ACED0BFFF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" y="1825626"/>
            <a:ext cx="3625784" cy="273965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72E584-D5DC-E4D5-9B6A-0AF69F056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295" y="1825626"/>
            <a:ext cx="3478065" cy="27396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FD2364-C159-A322-D753-57C5130A51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360" y="1825625"/>
            <a:ext cx="3698269" cy="280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18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B5D33-E4BD-97B3-4FAE-A95F571D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the Data: Multi-Linear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9C5D8-8227-1A69-7D8C-07E0BFBEA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Running the model layered the line over the scatterplot</a:t>
            </a:r>
          </a:p>
          <a:p>
            <a:endParaRPr lang="en-US" dirty="0"/>
          </a:p>
          <a:p>
            <a:r>
              <a:rPr lang="en-US" dirty="0"/>
              <a:t>The line proved the negative trend between </a:t>
            </a:r>
            <a:r>
              <a:rPr lang="en-US" dirty="0" err="1"/>
              <a:t>Salnty</a:t>
            </a:r>
            <a:r>
              <a:rPr lang="en-US" dirty="0"/>
              <a:t> and O2ml_L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374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1B15-48BA-BD54-89BD-D7922F80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both models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4DD897E-3A24-E865-6E15-AC78CFC6D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80" y="1527598"/>
            <a:ext cx="5296425" cy="435133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035DFE-18BD-1720-D647-4834B3E0C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987" y="1527596"/>
            <a:ext cx="5974106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98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E2168-2464-2983-3325-FB442A88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F6BAB-EC12-DAA6-0DC5-21DE20045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Salinity is a meaningful predictor of oxygen but it’s not the only predictor</a:t>
            </a:r>
          </a:p>
          <a:p>
            <a:r>
              <a:rPr lang="en-US" dirty="0"/>
              <a:t>There is a definite negative relationship between salinity and oxygen</a:t>
            </a:r>
          </a:p>
          <a:p>
            <a:r>
              <a:rPr lang="en-US" dirty="0"/>
              <a:t>This is a known ocean process</a:t>
            </a:r>
          </a:p>
          <a:p>
            <a:r>
              <a:rPr lang="en-US" dirty="0"/>
              <a:t>Both the scatterplot and the linear regression model showed this process</a:t>
            </a:r>
          </a:p>
        </p:txBody>
      </p:sp>
    </p:spTree>
    <p:extLst>
      <p:ext uri="{BB962C8B-B14F-4D97-AF65-F5344CB8AC3E}">
        <p14:creationId xmlns:p14="http://schemas.microsoft.com/office/powerpoint/2010/main" val="686696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A7F4B-1F4C-7A01-C546-647F67C7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in my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3DFCB-FFE1-7950-6194-4057CBA56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didn’t only use salinity as a predictor</a:t>
            </a:r>
          </a:p>
          <a:p>
            <a:r>
              <a:rPr lang="en-US" dirty="0"/>
              <a:t>It used all the variables as predictors</a:t>
            </a:r>
          </a:p>
          <a:p>
            <a:r>
              <a:rPr lang="en-US" dirty="0"/>
              <a:t>Difficult to isolate the effect salinity alone on dissolved oxygen</a:t>
            </a:r>
          </a:p>
          <a:p>
            <a:r>
              <a:rPr lang="en-US" dirty="0"/>
              <a:t>Dataset doesn’t factor in other ocean masses and mixing, seasons</a:t>
            </a:r>
          </a:p>
        </p:txBody>
      </p:sp>
    </p:spTree>
    <p:extLst>
      <p:ext uri="{BB962C8B-B14F-4D97-AF65-F5344CB8AC3E}">
        <p14:creationId xmlns:p14="http://schemas.microsoft.com/office/powerpoint/2010/main" val="2570073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B5D6B-C23E-B8E8-C068-99C763BB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I’d do differently if I had more time or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8F43-C006-4A2C-321E-6E6D0C6E0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Maybe use a simple regression model with just salinity as my predictor</a:t>
            </a:r>
          </a:p>
          <a:p>
            <a:r>
              <a:rPr lang="en-US" dirty="0"/>
              <a:t>Add other variables: temperature, depth</a:t>
            </a:r>
          </a:p>
          <a:p>
            <a:r>
              <a:rPr lang="en-US" dirty="0"/>
              <a:t>Maybe try to identify nonlinear relationships</a:t>
            </a:r>
          </a:p>
          <a:p>
            <a:r>
              <a:rPr lang="en-US" dirty="0"/>
              <a:t>I would have inspect the csv file more to see what the unnamed row signified. I suspect the entire column is just </a:t>
            </a:r>
            <a:r>
              <a:rPr lang="en-US"/>
              <a:t>the row number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297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8E9F3-37BF-E52F-0BFE-AD74F369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C636-39BB-8298-6F31-95882DB54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definite negative relationship between salinity and oxygen</a:t>
            </a:r>
          </a:p>
          <a:p>
            <a:r>
              <a:rPr lang="en-US" dirty="0"/>
              <a:t>Higher salinity equates to less oxygen</a:t>
            </a:r>
          </a:p>
          <a:p>
            <a:r>
              <a:rPr lang="en-US" dirty="0"/>
              <a:t>Salinity is useful as a predictor for oxygen levels</a:t>
            </a:r>
          </a:p>
          <a:p>
            <a:r>
              <a:rPr lang="en-US" dirty="0"/>
              <a:t>Research question is supported by findings in the model</a:t>
            </a:r>
          </a:p>
          <a:p>
            <a:r>
              <a:rPr lang="en-US" dirty="0"/>
              <a:t>Useful in understanding patterns along the California coast and coastal patterns in general</a:t>
            </a:r>
          </a:p>
        </p:txBody>
      </p:sp>
    </p:spTree>
    <p:extLst>
      <p:ext uri="{BB962C8B-B14F-4D97-AF65-F5344CB8AC3E}">
        <p14:creationId xmlns:p14="http://schemas.microsoft.com/office/powerpoint/2010/main" val="2169960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0F18-FBAB-D19D-28AE-924850A0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C8AC7-3837-AC39-2874-DEF7586F0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Followed the data analytics life cycle for the research process</a:t>
            </a:r>
          </a:p>
          <a:p>
            <a:r>
              <a:rPr lang="en-US" dirty="0"/>
              <a:t>Cleaned the dataset</a:t>
            </a:r>
          </a:p>
          <a:p>
            <a:r>
              <a:rPr lang="en-US" dirty="0"/>
              <a:t>Used a linear regression model to interpret the data</a:t>
            </a:r>
          </a:p>
          <a:p>
            <a:r>
              <a:rPr lang="en-US" dirty="0"/>
              <a:t>Model showed a definite negative relationship between both variables used</a:t>
            </a:r>
          </a:p>
          <a:p>
            <a:r>
              <a:rPr lang="en-US" dirty="0"/>
              <a:t>The results are useful in understanding the health of the ecosystem along the California coast and other regions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997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823</Words>
  <Application>Microsoft Office PowerPoint</Application>
  <PresentationFormat>Widescreen</PresentationFormat>
  <Paragraphs>104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Salinity: Relationship and Effect on Dissolved Oxygen</vt:lpstr>
      <vt:lpstr>Why I chose this topic?: The Big Picture</vt:lpstr>
      <vt:lpstr>Research question</vt:lpstr>
      <vt:lpstr>Background information: Why salinity is important?</vt:lpstr>
      <vt:lpstr>Salinity and water density</vt:lpstr>
      <vt:lpstr>I used the data analytics life cycle…</vt:lpstr>
      <vt:lpstr>Data Analytics Life Cycle</vt:lpstr>
      <vt:lpstr>Discovery Phase</vt:lpstr>
      <vt:lpstr>Preparation: Collected and organized the data </vt:lpstr>
      <vt:lpstr>Modeling</vt:lpstr>
      <vt:lpstr>Analyze the Data</vt:lpstr>
      <vt:lpstr>PowerPoint Presentation</vt:lpstr>
      <vt:lpstr>Scatterplot</vt:lpstr>
      <vt:lpstr>Analyze the Data: Multi-Linear Regression</vt:lpstr>
      <vt:lpstr>Comparing both models</vt:lpstr>
      <vt:lpstr>Interpreting the data</vt:lpstr>
      <vt:lpstr>Limitations in my analysis</vt:lpstr>
      <vt:lpstr>What I’d do differently if I had more time or data?</vt:lpstr>
      <vt:lpstr>Key takeaways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Jarod Coleman</dc:creator>
  <cp:lastModifiedBy>Jarod Coleman</cp:lastModifiedBy>
  <cp:revision>19</cp:revision>
  <dcterms:created xsi:type="dcterms:W3CDTF">2026-05-10T16:11:12Z</dcterms:created>
  <dcterms:modified xsi:type="dcterms:W3CDTF">2026-05-12T17:08:12Z</dcterms:modified>
</cp:coreProperties>
</file>